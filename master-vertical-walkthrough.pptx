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C9A22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Vertical Walkthrough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→ Strategist → Executive Portal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chained verticals + 1 standalone — every escalation, export, and named action below is verified against live HTML/JS, not assumed.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Healthcare  ·  Construction  ·  FinOps  ·  Insurance  ·  Legal  ·  Real Estate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Mortgage  ·  Schools  ·  PM Copilot  ·  BPO  ·  HotelOps  ·  Concierge  ·  Honeywell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Re-audited against origin/main · 2026-08-29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before touching any vertical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011119" y="1691640"/>
            <a:ext cx="1591056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1119" y="16916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Operator's Desk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02175" y="1691640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88636" y="1691640"/>
            <a:ext cx="1675181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8636" y="1691640"/>
            <a:ext cx="1675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3817" y="1691640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50278" y="1691640"/>
            <a:ext cx="1927555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50278" y="1691640"/>
            <a:ext cx="19275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1091672" cy="3657600"/>
          </a:xfrm>
          <a:prstGeom prst="roundRect">
            <a:avLst>
              <a:gd name="adj" fmla="val 150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97480"/>
            <a:ext cx="104515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verticals runs the same three conversations: what's happening on the ground, what does it mean, what does leadership need to decide.</a:t>
            </a:r>
            <a:endParaRPr lang="en-US" sz="15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that's three tools and three people. Here it's one connected chain.</a:t>
            </a:r>
            <a:endParaRPr lang="en-US" sz="15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 Room is the operator's desk — live engines running against real case data.</a:t>
            </a:r>
            <a:endParaRPr lang="en-US" sz="15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 is the analytical layer that turns that into a report.</a:t>
            </a:r>
            <a:endParaRPr lang="en-US" sz="15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Portal is where a decision gets made and a client package gets exported.</a:t>
            </a:r>
            <a:endParaRPr lang="en-US" sz="15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data travel. Nothing gets re-typed between screens.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 · The Story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management · multi-site practice group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claim denials, appeals, remittances (EOBs), and prior-authorization requests.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96058" y="2084832"/>
            <a:ext cx="226405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6058" y="2084832"/>
            <a:ext cx="22640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hc-denial-war-room.html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60113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46574" y="2084832"/>
            <a:ext cx="226405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6574" y="2084832"/>
            <a:ext cx="22640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hc-main-strategist.html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0628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97089" y="2084832"/>
            <a:ext cx="2095805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7089" y="2084832"/>
            <a:ext cx="2095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ALL 5 ENGINES reads the loaded denial codes (CO-29, PR-96, CO-4, CO-11) and builds the same intervention list a denial manager would build by hand — not a canned response.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Quick-ask preset “Board Brief” generates a board-ready narrative in one click: 18.4% denial rate, $48K at risk, and a recovery plan.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CLIENT PACKAGE produces the board-ready PDF from the exact same session data that started at the War Room three screens ago.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Healthcare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Six-engine close-day workload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permits, subcontractor invoices, change orders, and cost-variance escalations.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12748" y="2084832"/>
            <a:ext cx="2516429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2748" y="2084832"/>
            <a:ext cx="25164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construction-war-room.html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29177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5638" y="2084832"/>
            <a:ext cx="2684678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5638" y="2084832"/>
            <a:ext cx="26846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00316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6777" y="2084832"/>
            <a:ext cx="3189427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6777" y="2084832"/>
            <a:ext cx="3189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construction-executive-portal.html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ALL 6 ENGINES runs budget variance, retainage, lien waivers, pay-app matching, GL reconciliation, and compliance together — the same close-day workload a project accountant runs manually across three systems.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is a real state change: it flips the decision item's status and is what unlocks the client package export.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deadline-honesty guard constrains the engine to only cite deadlines explicitly present in the source document — writing “NOT STATED IN SOURCE DOCUMENT” rather than inferring one.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Construction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vertical with two engine stacks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GL reconciliation, AR aging, vendor invoices, budget variance, and BNCA escalations.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959559" y="2084832"/>
            <a:ext cx="2011680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59559" y="2084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finops-war-room.html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1239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57700" y="2084832"/>
            <a:ext cx="260055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7700" y="2084832"/>
            <a:ext cx="2600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finops-main-strategist.html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58254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44714" y="2084832"/>
            <a:ext cx="2684678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4714" y="2084832"/>
            <a:ext cx="26846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finops-executive-portal.html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engines fire in the War Room for GL/AP posture; a separate four-engine stack runs document-level analysis inside the Strategist.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Source chips let the Strategist choose which upstream session — exec or war room — feeds the generated report.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tabs — Strategist Report and 4-Engine Doc Analysis — keep the two workloads visibly distinct rather than blended into one view.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FinOps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chained sequence, not one call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claims, policies, renewals, and remittances for insurance-servicing clients.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791310" y="2084832"/>
            <a:ext cx="226405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1310" y="2084832"/>
            <a:ext cx="22640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insurance-war-room.html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55364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41825" y="2084832"/>
            <a:ext cx="243230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1825" y="208483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74129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60590" y="2084832"/>
            <a:ext cx="2937053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0590" y="2084832"/>
            <a:ext cx="2937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insurance-executive-portal.html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STRATEGIST CHAIN is the phrase to watch — it's not one call, it's a chained sequence: claims triage → coverage analysis → reserve recommendation, each step feeding the next.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ALL 6 ENGINES in the War Room covers the full intake stack before anything reaches the Strategist.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PACKAGE at the Strategist stage and EXPORT CLIENT PACKAGE at the Executive Portal are two distinct, real export touchpoints.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Insurance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A855F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three-tier vertical chain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court filings, discovery production, engagement agreements, and outside-counsel invoices.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36676" y="2084832"/>
            <a:ext cx="1927555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" y="2084832"/>
            <a:ext cx="19275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legal-war-room.html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64231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50692" y="2084832"/>
            <a:ext cx="2011680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0692" y="2084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62372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48833" y="2084832"/>
            <a:ext cx="2516429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8833" y="2084832"/>
            <a:ext cx="25164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legal-main-strategist.html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65262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51722" y="2084832"/>
            <a:ext cx="260055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1722" y="2084832"/>
            <a:ext cx="2600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legal-executive-portal.html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escalates two altitudes deep: a case-level Strategist for a single case, and a Chief Strategist above it for portfolio-wide legal risk — one platform, two levels.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isn't generic here — it's tied to a named action, “Discovery Expansion,” logged with that label in the audit trail.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 Node is a real specialist app (not just a routing label) surfacing procedural risk, venue analysis, and motion sequencing.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· War Room → Strategist → Executive Portal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RESCUE escalation path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listing agreements, title reports, closing disclosures, and inspection reports.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884932" y="2084832"/>
            <a:ext cx="1675181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4932" y="2084832"/>
            <a:ext cx="1675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re-war-room.html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60113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46574" y="2084832"/>
            <a:ext cx="1843430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6574" y="2084832"/>
            <a:ext cx="18434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90004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76465" y="2084832"/>
            <a:ext cx="1927555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2084832"/>
            <a:ext cx="19275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re-exec-portal.html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DEAL RESCUE is the same brief generator as the standard flow, scoped specifically to a deal about to fall apart, with an amber urgent treatment in the sidebar.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is the one exec portal with no exportClientPackage() wiring — it uses Export Session / Export Board Report instead.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Quick-fire presets cover cross-node synthesis, highest-risk deal, a full compliance sweep (TRID/HMDA/Fair Housing/FinCEN), and REO disposition.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Estate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EAB30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Mortgage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the newer verticals were built from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closing-desk mortgage case work — the reference pattern for Schools, PM Copilot, and HotelOps.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917497" y="2084832"/>
            <a:ext cx="2179930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7497" y="2084832"/>
            <a:ext cx="2179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mortgage-war-room.html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97426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83887" y="2084832"/>
            <a:ext cx="2348179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3887" y="2084832"/>
            <a:ext cx="23481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32066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18527" y="2084832"/>
            <a:ext cx="2852928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18527" y="20848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mortgage-executive-portal.html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writes fire to both sessionStorage and localStorage — the Strategist picks it up whether it's the same tab or a new one.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and ESCALATE are logged actions, not just UI state — each writes a specific message string to the relay/audit trail.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here is print-to-PDF (window.print()) rather than a custom export function — a deliberate simpler pattern for this vertical.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Mortgage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regulatory domains, one operator screen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K-12 / school-district compliance — federal grants, tax-exempt status, bond compliance, cybersecurity.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085746" y="2084832"/>
            <a:ext cx="2011680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5746" y="2084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schools-command.html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97426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83887" y="2084832"/>
            <a:ext cx="226405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3887" y="2084832"/>
            <a:ext cx="22640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47942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34402" y="2084832"/>
            <a:ext cx="2768803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4402" y="2084832"/>
            <a:ext cx="2768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schools-executive-portal.html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library alone spans subrecipient monitoring, single audit/SEFA, grant closeout, ESSER, Form 990, bond arbitrage, and CISA K-12 cybersecurity.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Analysis is documented to fail safely: if the model call errors, the KPI/financial relay still fires so downstream screens never go dark.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TSM_RELAY_EVENT fires for same-tab listeners, since the native storage event only fires cross-tab.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Schools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Copilot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governed engines behind one sign-off panel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work orders, vendor insurance certificates, and lease renewals for property management clients.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926994" y="2084832"/>
            <a:ext cx="1591056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994" y="208483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pm-command.html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18050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04511" y="2084832"/>
            <a:ext cx="1843430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4511" y="2084832"/>
            <a:ext cx="18434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47942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34402" y="2084832"/>
            <a:ext cx="1927555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4402" y="2084832"/>
            <a:ext cx="19275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pm-exec-portal.html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Portal stacks four generated panels beneath sign-off: a ranked Decision Queue, a Portfolio Intelligence twin, an Action Center, and a Predictive Risk Outlook — each its own governed engine.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calls is deterministic and role-gated — no LLM guessing the priority ranking, and no PM API route open to an unauthenticated session.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dispatch is a real state change tied to a specific work order and vendor ID, not a generic demo button.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 Copilot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genuine client-facing app in the repo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SLA reports, client onboarding, internal SOPs, and service-line invoices.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48433" y="2084832"/>
            <a:ext cx="1759306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8433" y="2084832"/>
            <a:ext cx="17593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bpo-war-room.html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07738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94199" y="2084832"/>
            <a:ext cx="1927555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4199" y="2084832"/>
            <a:ext cx="19275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1754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08215" y="2084832"/>
            <a:ext cx="243230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8215" y="208483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bpo-executive-portal.html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here is a real plain-text executive brief, not the JSON package — its own footer states nothing is re-derived or estimated at export time.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Executive Portal that pulls in the cross-vertical supervisor rollup — mission counts across every other domain, not just BPO's own.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is the one page an actual client logs into and sees their own case rollup and documents — everything else in this deck is internal tooling.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BPO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84CC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84CC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HotelOps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Preview-then-commit, not a one-click black box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hotel and short-term-rental operations — maintenance, compliance, and Airbnb risk.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917497" y="2084832"/>
            <a:ext cx="2179930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7497" y="2084832"/>
            <a:ext cx="2179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hotelops-war-room.html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97426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83887" y="2084832"/>
            <a:ext cx="2348179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3887" y="2084832"/>
            <a:ext cx="23481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32066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18527" y="2084832"/>
            <a:ext cx="2852928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18527" y="20848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hotelops-executive-portal.html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import is a genuine preview-then-commit flow — you see exactly what's about to be imported before it commits.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CLIENT PACKAGE is wired with real financials, maintenance/compliance/Airbnb risk data, and portfolio data as a sections passthrough.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Mortgage-style relay convention: event-listener-bound buttons, dual-storage relay.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HotelOps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Concierge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missions, not document-driven case work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dispatched concierge and transport missions for hospitality clients.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791310" y="2084832"/>
            <a:ext cx="226405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1310" y="2084832"/>
            <a:ext cx="22640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concierge-war-room.html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55364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41825" y="2084832"/>
            <a:ext cx="243230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1825" y="208483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74129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60590" y="2084832"/>
            <a:ext cx="2937053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0590" y="2084832"/>
            <a:ext cx="2937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concierge-executive-portal.html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live dispatched transport missions rather than document-driven case work: bookQuote, cancelMission, and simulateEvent are all real state transitions on a specific booking ID.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confirmToExec() is the Strategist-confirmation gate that unlocks the Executive Portal's content — the same gate pattern used elsewhere on the platform.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CLIENT PACKAGE now carries real KPI totals — total, open, completed, exceptions, and spend — as a sections passthrough.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Concierge · War Room → Strategist → Executive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B91C1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Honeywell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front doors, one unified risk picture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plant incidents, supplier shutdowns, and cyber-OT breaches — industrial client pilot.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623060" y="2084832"/>
            <a:ext cx="260055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3060" y="2084832"/>
            <a:ext cx="2600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/ Supplier / Cyber-OT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23614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10074" y="2084832"/>
            <a:ext cx="2432304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0074" y="208483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honeywell-strategist.html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42378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28839" y="2084832"/>
            <a:ext cx="2937053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8839" y="2084832"/>
            <a:ext cx="2937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honeywell-executive-portal.html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vertical with three separate war rooms — plant incident, supplier shutdown, cyber-OT breach — because those are genuinely different first-responders, converging on one Strategist and one Executive view.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deliberate: leadership sees one unified risk picture regardless of which team is closest to the fire.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NOTIFIED is a named, distinct action from AUTHORIZE — worth calling out to a compliance-minded buyer, the same way Legal's “Discovery Expansion” is.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Honeywell · three war rooms → one Strategist/Exec pair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94A3B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 the Chain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9875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Ticket Copilot · RCM-OS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 of the platform that deliberately don't follow the War Room → Strategist → Executive Portal pattern.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883103" y="2084832"/>
            <a:ext cx="1506931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3103" y="2084832"/>
            <a:ext cx="15069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90034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76495" y="2084832"/>
            <a:ext cx="2937053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495" y="2084832"/>
            <a:ext cx="2937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Copilot ↔ VMware Copilot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3548" y="208483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0009" y="2084832"/>
            <a:ext cx="1005840" cy="384048"/>
          </a:xfrm>
          <a:prstGeom prst="roundRect">
            <a:avLst>
              <a:gd name="adj" fmla="val 21429"/>
            </a:avLst>
          </a:prstGeom>
          <a:solidFill>
            <a:srgbClr val="171E2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0009" y="20848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451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Ticket Copilot is four peer apps linked hub-style, not an escalation chain — every page carries the same assistant bubble, one click from help no matter which tool you're in.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VMware module fires a real relay write — ticket ID, component, category, and environment hand off behind the scenes. Nothing here is a canned demo payload.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RCM-OS (Reconciliation Command Center) is a standalone GL-reconciliation tool with no escalation chain, no relay, and no exportClientPackage() — a different kind of artifact, don't describe it in three-tier-chain language.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the Chain · not a War Room → Strategist → Exec pattern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Cross-Vertical Patterns Worth Naming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calling out explicitly in a demo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1417320"/>
          </a:xfrm>
          <a:prstGeom prst="roundRect">
            <a:avLst>
              <a:gd name="adj" fmla="val 3871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19656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is state, not navigation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“Escalate” buttons write a payload to storage before moving screens — the receiving screen reads real data, it isn't just a link.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362956" cy="1417320"/>
          </a:xfrm>
          <a:prstGeom prst="roundRect">
            <a:avLst>
              <a:gd name="adj" fmla="val 3871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1819656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relay mechanisms coexist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05956" y="2203704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verticals use dedicated JS functions per action; Mortgage, Schools, PM Copilot, and HotelOps standardized on a shared event-listener + dual-storage relay pattern.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5362956" cy="1417320"/>
          </a:xfrm>
          <a:prstGeom prst="roundRect">
            <a:avLst>
              <a:gd name="adj" fmla="val 3871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3814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exportClientPackage() is the common export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on 11 of 13 chained verticals. Real Estate and BPO are the two exceptions — don't promise that language on those two portals.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7356" y="3310128"/>
            <a:ext cx="5362956" cy="1417320"/>
          </a:xfrm>
          <a:prstGeom prst="roundRect">
            <a:avLst>
              <a:gd name="adj" fmla="val 3871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5956" y="343814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Audit-trail-forward logging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05956" y="3822192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/ ESCALATE with logged messages (Mortgage, Schools, PM Copilot, HotelOps, Honeywell) is the most compliance-visible pattern on the platform.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28616"/>
            <a:ext cx="5362956" cy="1417320"/>
          </a:xfrm>
          <a:prstGeom prst="roundRect">
            <a:avLst>
              <a:gd name="adj" fmla="val 3871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056632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and Honeywell are structurally unique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440680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is the only three-tier chain; Honeywell is the only vertical fed by three separate war rooms into one shared Strategist/Exec pair.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7356" y="4928616"/>
            <a:ext cx="5362956" cy="1417320"/>
          </a:xfrm>
          <a:prstGeom prst="roundRect">
            <a:avLst>
              <a:gd name="adj" fmla="val 3871"/>
            </a:avLst>
          </a:prstGeom>
          <a:solidFill>
            <a:srgbClr val="171E27"/>
          </a:solidFill>
          <a:ln w="12700">
            <a:solidFill>
              <a:srgbClr val="232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5956" y="5056632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RCM-OS sits outside the pattern entirely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05956" y="5440680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reconciliation tool with no War Room / Strategist / Executive Portal chain — don't describe it in three-tier-chain language.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Cross-Vertical Patterns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400800" cy="640080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C9A22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Thirteen verticals.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escalation, export, and named action in this deck was confirmed against live HTML/JS — not assumed from naming conventions.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39/40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suite-hub.html links crawled clean, real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3794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+ 1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verticals, plus RCM-OS standalone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3794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955280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 share one exportClientPackage() convention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Vertical Walkthrough · v2026-08-29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TSM CONSULTZ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2026-09-03T23:21:25Z</dcterms:created>
  <dcterms:modified xsi:type="dcterms:W3CDTF">2026-09-03T23:21:25Z</dcterms:modified>
</cp:coreProperties>
</file>